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207" autoAdjust="0"/>
  </p:normalViewPr>
  <p:slideViewPr>
    <p:cSldViewPr snapToGrid="0" snapToObjects="1">
      <p:cViewPr varScale="1">
        <p:scale>
          <a:sx n="49" d="100"/>
          <a:sy n="49" d="100"/>
        </p:scale>
        <p:origin x="166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130B8-B5E6-4985-B3F1-6940307E21FB}" type="datetimeFigureOut">
              <a:rPr lang="fr-FR" smtClean="0"/>
              <a:t>21/06/2026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432FC-3C6E-4D46-AA06-C48EDF59D7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1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Bonjour à tous. Mesdames et Messieurs les membres du jury, permettez-nous de vous remercier de l'attention que vous</a:t>
            </a:r>
          </a:p>
          <a:p>
            <a:r>
              <a:rPr lang="fr-FR" dirty="0"/>
              <a:t>  portez à notre travail.</a:t>
            </a:r>
          </a:p>
          <a:p>
            <a:endParaRPr lang="fr-FR" dirty="0"/>
          </a:p>
          <a:p>
            <a:r>
              <a:rPr lang="fr-FR" dirty="0"/>
              <a:t>  Je m'appelle Hicham Agrad, et avec mon binôme Yahya El Hama, nous avons eu l'honneur de réaliser ce Projet de Fin</a:t>
            </a:r>
          </a:p>
          <a:p>
            <a:r>
              <a:rPr lang="fr-FR" dirty="0"/>
              <a:t>  d'Année sous la supervision de Monsieur Imam </a:t>
            </a:r>
            <a:r>
              <a:rPr lang="fr-FR" dirty="0" err="1"/>
              <a:t>Alihamidi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  Notre projet s'intitule </a:t>
            </a:r>
            <a:r>
              <a:rPr lang="fr-FR" dirty="0" err="1"/>
              <a:t>SecureWatch</a:t>
            </a:r>
            <a:r>
              <a:rPr lang="fr-FR" dirty="0"/>
              <a:t> : Centralisation des Logs et Détection d'Incidents de Sécurité. Il s'agit d'une</a:t>
            </a:r>
          </a:p>
          <a:p>
            <a:r>
              <a:rPr lang="fr-FR" dirty="0"/>
              <a:t>  plateforme de surveillance de sécurité complète, que nous allons vous présenter aujourd'hui.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432FC-3C6E-4D46-AA06-C48EDF59D77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04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Notre présentation s'articule autour de cinq grandes parties.</a:t>
            </a:r>
          </a:p>
          <a:p>
            <a:endParaRPr lang="fr-FR" dirty="0"/>
          </a:p>
          <a:p>
            <a:r>
              <a:rPr lang="fr-FR" dirty="0"/>
              <a:t>  Nous commencerons par poser le contexte général : pourquoi ce projet, quel problème cherche-t-il à résoudre ?</a:t>
            </a:r>
          </a:p>
          <a:p>
            <a:endParaRPr lang="fr-FR" dirty="0"/>
          </a:p>
          <a:p>
            <a:r>
              <a:rPr lang="fr-FR" dirty="0"/>
              <a:t>  Ensuite, nous définirons les objectifs du PFA que nous nous sommes fixés.</a:t>
            </a:r>
          </a:p>
          <a:p>
            <a:endParaRPr lang="fr-FR" dirty="0"/>
          </a:p>
          <a:p>
            <a:r>
              <a:rPr lang="fr-FR" dirty="0"/>
              <a:t>  La troisième partie couvrira l'architecture technique et les technologies choisies.</a:t>
            </a:r>
          </a:p>
          <a:p>
            <a:endParaRPr lang="fr-FR" dirty="0"/>
          </a:p>
          <a:p>
            <a:r>
              <a:rPr lang="fr-FR" dirty="0"/>
              <a:t>  La quatrième partie présentera l'analyse et la conception du système, avec les acteurs, les cas d'utilisation et les</a:t>
            </a:r>
          </a:p>
          <a:p>
            <a:r>
              <a:rPr lang="fr-FR" dirty="0"/>
              <a:t>  exigences.</a:t>
            </a:r>
          </a:p>
          <a:p>
            <a:endParaRPr lang="fr-FR" dirty="0"/>
          </a:p>
          <a:p>
            <a:r>
              <a:rPr lang="fr-FR" dirty="0"/>
              <a:t>  Enfin, nous clôturerons par une conclusion et les perspectives d'évolution du projet.</a:t>
            </a:r>
          </a:p>
          <a:p>
            <a:endParaRPr lang="fr-FR" dirty="0"/>
          </a:p>
          <a:p>
            <a:r>
              <a:rPr lang="fr-FR" dirty="0"/>
              <a:t>  Sans plus attendre, entrons dans le vif du sujet.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432FC-3C6E-4D46-AA06-C48EDF59D77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505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Aujourd'hui, les applications modernes ne ressemblent plus à des blocs monolithiques. Elles sont décomposées en</a:t>
            </a:r>
          </a:p>
          <a:p>
            <a:r>
              <a:rPr lang="fr-FR" dirty="0"/>
              <a:t>  dizaines de </a:t>
            </a:r>
            <a:r>
              <a:rPr lang="fr-FR" dirty="0" err="1"/>
              <a:t>microservices</a:t>
            </a:r>
            <a:r>
              <a:rPr lang="fr-FR" dirty="0"/>
              <a:t> qui communiquent entre eux via des APIs. Cette approche offre de la flexibilité, mais elle</a:t>
            </a:r>
          </a:p>
          <a:p>
            <a:r>
              <a:rPr lang="fr-FR" dirty="0"/>
              <a:t>  crée un défi majeur en matière de sécurité.</a:t>
            </a:r>
          </a:p>
          <a:p>
            <a:endParaRPr lang="fr-FR" dirty="0"/>
          </a:p>
          <a:p>
            <a:r>
              <a:rPr lang="fr-FR" dirty="0"/>
              <a:t>  Les attaques sont de plus en plus diversifiées : brute force sur les authentifications, injections SQL, scanners</a:t>
            </a:r>
          </a:p>
          <a:p>
            <a:r>
              <a:rPr lang="fr-FR" dirty="0"/>
              <a:t>  offensifs, tentatives depuis des </a:t>
            </a:r>
            <a:r>
              <a:rPr lang="fr-FR" dirty="0" err="1"/>
              <a:t>IPs</a:t>
            </a:r>
            <a:r>
              <a:rPr lang="fr-FR" dirty="0"/>
              <a:t> géographiquement suspectes. Et dans un environnement distribué, les traces de ces</a:t>
            </a:r>
          </a:p>
          <a:p>
            <a:r>
              <a:rPr lang="fr-FR" dirty="0"/>
              <a:t>  attaques sont éparpillées dans les logs de chaque service.</a:t>
            </a:r>
          </a:p>
          <a:p>
            <a:endParaRPr lang="fr-FR" dirty="0"/>
          </a:p>
          <a:p>
            <a:r>
              <a:rPr lang="fr-FR" dirty="0"/>
              <a:t>  Sans outil centralisé, un responsable de sécurité doit consulter manuellement des dizaines de fichiers de logs pour</a:t>
            </a:r>
          </a:p>
          <a:p>
            <a:r>
              <a:rPr lang="fr-FR" dirty="0"/>
              <a:t>  reconstituer ce qui s'est passé. La détection est réactive — on découvre l'attaque après les dégâts.</a:t>
            </a:r>
          </a:p>
          <a:p>
            <a:endParaRPr lang="fr-FR" dirty="0"/>
          </a:p>
          <a:p>
            <a:r>
              <a:rPr lang="fr-FR" dirty="0"/>
              <a:t>  Notre conviction : il est indispensable d'avoir une plateforme capable de centraliser, corréler et alerter en temps</a:t>
            </a:r>
          </a:p>
          <a:p>
            <a:r>
              <a:rPr lang="fr-FR" dirty="0"/>
              <a:t>  réel. C'est exactement là qu'intervient </a:t>
            </a:r>
            <a:r>
              <a:rPr lang="fr-FR" dirty="0" err="1"/>
              <a:t>SecureWatch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432FC-3C6E-4D46-AA06-C48EDF59D77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439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432FC-3C6E-4D46-AA06-C48EDF59D77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169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432FC-3C6E-4D46-AA06-C48EDF59D77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02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71900"/>
            <a:ext cx="12191695" cy="3086100"/>
          </a:xfrm>
          <a:prstGeom prst="rect">
            <a:avLst/>
          </a:prstGeom>
          <a:solidFill>
            <a:srgbClr val="EB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141732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2B6B"/>
                </a:solidFill>
              </a:rPr>
              <a:t>PROJET DE FIN D'ANNÉE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901952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77777"/>
                </a:solidFill>
              </a:rPr>
              <a:t>2025 /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68880"/>
            <a:ext cx="8534095" cy="960120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85340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SecureWatch : Centralisation des Logs &amp;
Détection d'Incidents de Sécurité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611880"/>
            <a:ext cx="8534095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B6B"/>
                </a:solidFill>
              </a:rPr>
              <a:t>RÉALISÉ PAR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224528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333333"/>
                </a:solidFill>
              </a:rPr>
              <a:t>AGRAD Hicham</a:t>
            </a:r>
            <a:br>
              <a:rPr lang="fr-FR" sz="1300" b="0" dirty="0">
                <a:solidFill>
                  <a:srgbClr val="333333"/>
                </a:solidFill>
              </a:rPr>
            </a:br>
            <a:r>
              <a:rPr lang="fr-FR" sz="1300" b="0" dirty="0">
                <a:solidFill>
                  <a:srgbClr val="333333"/>
                </a:solidFill>
              </a:rPr>
              <a:t>ELHAMA Yahya</a:t>
            </a:r>
            <a:endParaRPr sz="1300" b="0" dirty="0">
              <a:solidFill>
                <a:srgbClr val="33333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5847" y="3749039"/>
            <a:ext cx="18288" cy="1463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B6B"/>
                </a:solidFill>
              </a:rPr>
              <a:t>MEMBRES DU JURY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24528"/>
            <a:ext cx="5303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333333"/>
                </a:solidFill>
              </a:rPr>
              <a:t>Pr. (</a:t>
            </a:r>
            <a:r>
              <a:rPr sz="1300" b="0" dirty="0" err="1">
                <a:solidFill>
                  <a:srgbClr val="333333"/>
                </a:solidFill>
              </a:rPr>
              <a:t>Encadrant</a:t>
            </a:r>
            <a:r>
              <a:rPr sz="1300" b="0" dirty="0">
                <a:solidFill>
                  <a:srgbClr val="333333"/>
                </a:solidFill>
              </a:rPr>
              <a:t>)
Pr. ________________________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313D881-AF2A-C397-45BE-40BD202E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671" y="-96816"/>
            <a:ext cx="4028352" cy="1879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2B6B"/>
                </a:solidFill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548640" cy="64008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938528"/>
            <a:ext cx="21274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B6B"/>
                </a:solidFill>
              </a:rPr>
              <a:t>1</a:t>
            </a:r>
          </a:p>
        </p:txBody>
      </p:sp>
      <p:sp>
        <p:nvSpPr>
          <p:cNvPr id="5" name="Can 4"/>
          <p:cNvSpPr/>
          <p:nvPr/>
        </p:nvSpPr>
        <p:spPr>
          <a:xfrm>
            <a:off x="594360" y="2377440"/>
            <a:ext cx="2127443" cy="1097280"/>
          </a:xfrm>
          <a:prstGeom prst="can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1274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12744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B6B"/>
                </a:solidFill>
              </a:rPr>
              <a:t>Contexte
Général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3243" y="1938528"/>
            <a:ext cx="21274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B6B"/>
                </a:solidFill>
              </a:rPr>
              <a:t>2</a:t>
            </a:r>
          </a:p>
        </p:txBody>
      </p:sp>
      <p:sp>
        <p:nvSpPr>
          <p:cNvPr id="9" name="Can 8"/>
          <p:cNvSpPr/>
          <p:nvPr/>
        </p:nvSpPr>
        <p:spPr>
          <a:xfrm>
            <a:off x="2813243" y="2377440"/>
            <a:ext cx="2127443" cy="1097280"/>
          </a:xfrm>
          <a:prstGeom prst="can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3243" y="2377440"/>
            <a:ext cx="21274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3243" y="3566160"/>
            <a:ext cx="212744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B6B"/>
                </a:solidFill>
              </a:rPr>
              <a:t>Objectifs
du PFA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2126" y="1938528"/>
            <a:ext cx="21274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B6B"/>
                </a:solidFill>
              </a:rPr>
              <a:t>3</a:t>
            </a:r>
          </a:p>
        </p:txBody>
      </p:sp>
      <p:sp>
        <p:nvSpPr>
          <p:cNvPr id="13" name="Can 12"/>
          <p:cNvSpPr/>
          <p:nvPr/>
        </p:nvSpPr>
        <p:spPr>
          <a:xfrm>
            <a:off x="5032126" y="2377440"/>
            <a:ext cx="2127443" cy="1097280"/>
          </a:xfrm>
          <a:prstGeom prst="can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32126" y="2377440"/>
            <a:ext cx="21274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2126" y="3566160"/>
            <a:ext cx="212744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B6B"/>
                </a:solidFill>
              </a:rPr>
              <a:t>Architecture &amp;
Technologies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009" y="1938528"/>
            <a:ext cx="21274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B6B"/>
                </a:solidFill>
              </a:rPr>
              <a:t>4</a:t>
            </a:r>
          </a:p>
        </p:txBody>
      </p:sp>
      <p:sp>
        <p:nvSpPr>
          <p:cNvPr id="17" name="Can 16"/>
          <p:cNvSpPr/>
          <p:nvPr/>
        </p:nvSpPr>
        <p:spPr>
          <a:xfrm>
            <a:off x="7251009" y="2377440"/>
            <a:ext cx="2127443" cy="1097280"/>
          </a:xfrm>
          <a:prstGeom prst="can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009" y="2377440"/>
            <a:ext cx="21274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009" y="3566160"/>
            <a:ext cx="212744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B6B"/>
                </a:solidFill>
              </a:rPr>
              <a:t>Analyse &amp;
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9892" y="1938528"/>
            <a:ext cx="212744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B6B"/>
                </a:solidFill>
              </a:rPr>
              <a:t>5</a:t>
            </a:r>
          </a:p>
        </p:txBody>
      </p:sp>
      <p:sp>
        <p:nvSpPr>
          <p:cNvPr id="21" name="Can 20"/>
          <p:cNvSpPr/>
          <p:nvPr/>
        </p:nvSpPr>
        <p:spPr>
          <a:xfrm>
            <a:off x="9469892" y="2377440"/>
            <a:ext cx="2127443" cy="1097280"/>
          </a:xfrm>
          <a:prstGeom prst="can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9892" y="2377440"/>
            <a:ext cx="21274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9892" y="3566160"/>
            <a:ext cx="212744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B6B"/>
                </a:solidFill>
              </a:rPr>
              <a:t>Conclusion &amp;
Perspectives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3A2E893-507D-57F7-DD2C-99E00D51D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17" y="1614971"/>
            <a:ext cx="11526859" cy="27600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19088"/>
          </a:xfrm>
          <a:prstGeom prst="rect">
            <a:avLst/>
          </a:prstGeom>
          <a:solidFill>
            <a:srgbClr val="EB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1B2B6B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Général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3977639"/>
            <a:ext cx="1005840" cy="64008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71183" y="1463040"/>
            <a:ext cx="27432" cy="2926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B1011C5-185D-C0AC-E11C-A6BA48620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602" y="1959157"/>
            <a:ext cx="1438476" cy="1933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Problématique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1179575"/>
            <a:ext cx="82296" cy="82296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069847"/>
            <a:ext cx="6053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A84F"/>
                </a:solidFill>
              </a:rPr>
              <a:t>Multiplication des cyberattaques : </a:t>
            </a:r>
            <a:r>
              <a:rPr sz="1300">
                <a:solidFill>
                  <a:srgbClr val="333333"/>
                </a:solidFill>
              </a:rPr>
              <a:t>brute force, injections SQL, scanners offensifs, anomalies géographiques — menaces de plus en plus diversifiées.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792223"/>
            <a:ext cx="82296" cy="82296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682495"/>
            <a:ext cx="6053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A84F"/>
                </a:solidFill>
              </a:rPr>
              <a:t>Logs dispersés : </a:t>
            </a:r>
            <a:r>
              <a:rPr sz="1300">
                <a:solidFill>
                  <a:srgbClr val="333333"/>
                </a:solidFill>
              </a:rPr>
              <a:t>dans une architecture distribuée, les traces d'attaques sont éparpillées entre plusieurs services, difficiles à corréler.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404871"/>
            <a:ext cx="82296" cy="82296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295143"/>
            <a:ext cx="6053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A84F"/>
                </a:solidFill>
              </a:rPr>
              <a:t>Détection réactive : </a:t>
            </a:r>
            <a:r>
              <a:rPr sz="1300">
                <a:solidFill>
                  <a:srgbClr val="333333"/>
                </a:solidFill>
              </a:rPr>
              <a:t>sans monitoring centralisé, les incidents sont détectés trop tard, augmentant leur impact sur les systèmes.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017519"/>
            <a:ext cx="82296" cy="82296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907791"/>
            <a:ext cx="6053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A84F"/>
                </a:solidFill>
              </a:rPr>
              <a:t>Besoin d'approche proactive : </a:t>
            </a:r>
            <a:r>
              <a:rPr sz="1300">
                <a:solidFill>
                  <a:srgbClr val="333333"/>
                </a:solidFill>
              </a:rPr>
              <a:t>centraliser, analyser et alerter en temps réel est devenu indispensable pour toute infrastructure moderne.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E079200-7564-73D2-5510-5C26AD914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886968"/>
            <a:ext cx="5306165" cy="2295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Présentation du projet SecureWatch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B4491C67-73C4-7D6F-36FE-4E0E19667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07" y="1132366"/>
            <a:ext cx="11498280" cy="4972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Menaces &amp; types d'attaques ciblés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E6683991-7BBE-D9A8-D558-FB666619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1723787"/>
            <a:ext cx="11631648" cy="3410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19088"/>
          </a:xfrm>
          <a:prstGeom prst="rect">
            <a:avLst/>
          </a:prstGeom>
          <a:solidFill>
            <a:srgbClr val="EB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1B2B6B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du PFA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3977639"/>
            <a:ext cx="1005840" cy="64008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71183" y="1463040"/>
            <a:ext cx="27432" cy="2926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3EE3D26-4B0A-CEF2-361E-E2C9BE1B0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710" y="1815178"/>
            <a:ext cx="1676634" cy="2276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097279"/>
            <a:ext cx="3545738" cy="1600200"/>
          </a:xfrm>
          <a:prstGeom prst="rect">
            <a:avLst/>
          </a:prstGeom>
          <a:solidFill>
            <a:srgbClr val="EBF5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755647"/>
            <a:ext cx="33994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B6B"/>
                </a:solidFill>
              </a:rPr>
              <a:t>Centraliser les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48255"/>
            <a:ext cx="339943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ELK Stack (Elasticsearch + Logstash
+ Kibana + Filebeat)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097279"/>
            <a:ext cx="3545738" cy="1600200"/>
          </a:xfrm>
          <a:prstGeom prst="rect">
            <a:avLst/>
          </a:prstGeom>
          <a:solidFill>
            <a:srgbClr val="EBF5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6130" y="1755647"/>
            <a:ext cx="33994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B6B"/>
                </a:solidFill>
              </a:rPr>
              <a:t>Détecter les attaques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6130" y="2048255"/>
            <a:ext cx="339943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en temps réel — 9 types d'incidents,
10 event_types Logstash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1596" y="1097279"/>
            <a:ext cx="3545738" cy="1600200"/>
          </a:xfrm>
          <a:prstGeom prst="rect">
            <a:avLst/>
          </a:prstGeom>
          <a:solidFill>
            <a:srgbClr val="EBF5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4748" y="1755647"/>
            <a:ext cx="33994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B6B"/>
                </a:solidFill>
              </a:rPr>
              <a:t>Alerter automatiquement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2048255"/>
            <a:ext cx="339943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Prometheus + Alertmanager
11 règles d'alerte configurées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34639"/>
            <a:ext cx="3545738" cy="1600200"/>
          </a:xfrm>
          <a:prstGeom prst="rect">
            <a:avLst/>
          </a:prstGeom>
          <a:solidFill>
            <a:srgbClr val="EBF5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3493007"/>
            <a:ext cx="33994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B6B"/>
                </a:solidFill>
              </a:rPr>
              <a:t>Visualiser les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785615"/>
            <a:ext cx="339943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Dashboard SPA + Grafana + Kibana
carte géographique D3.js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2978" y="2834639"/>
            <a:ext cx="3545738" cy="1600200"/>
          </a:xfrm>
          <a:prstGeom prst="rect">
            <a:avLst/>
          </a:prstGeom>
          <a:solidFill>
            <a:srgbClr val="EBF5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6130" y="3493007"/>
            <a:ext cx="33994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B6B"/>
                </a:solidFill>
              </a:rPr>
              <a:t>Sécuriser les accès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6130" y="3785615"/>
            <a:ext cx="339943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JWT HS256, TLS/HTTPS, rate limiting
RBAC 3 rôles (Admin/Operator/User)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1596" y="2834639"/>
            <a:ext cx="3545738" cy="1600200"/>
          </a:xfrm>
          <a:prstGeom prst="rect">
            <a:avLst/>
          </a:prstGeom>
          <a:solidFill>
            <a:srgbClr val="EBF5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4748" y="3493007"/>
            <a:ext cx="33994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B6B"/>
                </a:solidFill>
              </a:rPr>
              <a:t>Simuler les attaques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4748" y="3785615"/>
            <a:ext cx="339943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9 scénarios automatisés
(brute force, SQLi, scanner, géo…)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326A44C3-63A6-6134-F532-5BA8A126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009" y="2923511"/>
            <a:ext cx="498912" cy="498912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D33B14BC-CDA7-FF9D-C5C2-3D7DEAC3B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59" y="2923511"/>
            <a:ext cx="490141" cy="490141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99C1F1A5-324C-2CC2-43D9-F25E2AE30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72" y="2898700"/>
            <a:ext cx="548534" cy="548534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8CA4190A-B522-767B-7695-77D6F3E5A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0830" y="1194306"/>
            <a:ext cx="510034" cy="510034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5360412D-4C10-65B8-C7AA-BCA73B41C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190" y="1153097"/>
            <a:ext cx="602550" cy="602550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BC7A80B2-AA74-B94F-AF2A-27C2E7498B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2398" y="1194306"/>
            <a:ext cx="609662" cy="6096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19088"/>
          </a:xfrm>
          <a:prstGeom prst="rect">
            <a:avLst/>
          </a:prstGeom>
          <a:solidFill>
            <a:srgbClr val="EB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1B2B6B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Architecture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3977639"/>
            <a:ext cx="1005840" cy="64008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71183" y="1463040"/>
            <a:ext cx="27432" cy="2926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9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048E67A-F55F-46D5-76B6-9B11D843E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759" y="1828800"/>
            <a:ext cx="1914792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Technologies utilisées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3840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B2B6B"/>
                </a:solidFill>
              </a:rPr>
              <a:t>Python /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3938" y="263840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B2B6B"/>
                </a:solidFill>
              </a:rPr>
              <a:t>ELK Stack 8.12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2680604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B2B6B"/>
                </a:solidFill>
              </a:rPr>
              <a:t>Prometheus + 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8432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B6B"/>
                </a:solidFill>
              </a:rPr>
              <a:t>Docker Compose</a:t>
            </a:r>
          </a:p>
        </p:txBody>
      </p:sp>
      <p:sp>
        <p:nvSpPr>
          <p:cNvPr id="21" name="Oval 20"/>
          <p:cNvSpPr/>
          <p:nvPr/>
        </p:nvSpPr>
        <p:spPr>
          <a:xfrm>
            <a:off x="5684367" y="3369920"/>
            <a:ext cx="822960" cy="822960"/>
          </a:xfrm>
          <a:prstGeom prst="ellipse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3938" y="3369920"/>
            <a:ext cx="34238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3938" y="428432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B6B"/>
                </a:solidFill>
              </a:rPr>
              <a:t>Nginx API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3516" y="4326524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B6B"/>
                </a:solidFill>
              </a:rPr>
              <a:t>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10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315A131-254C-3A71-3A7F-01F529736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271" y="3122252"/>
            <a:ext cx="1143152" cy="114315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080D91B2-5208-621F-9142-02C0DEF70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404" y="2894784"/>
            <a:ext cx="2536041" cy="1751076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22AAC9DC-41D4-23FE-151A-BA5D06793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62" y="2939371"/>
            <a:ext cx="1316813" cy="1316813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B83B45BB-BF15-68C9-DC12-ABA92586B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739" y="1351206"/>
            <a:ext cx="1259058" cy="1259058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9CD0A2D4-9B00-4F69-AAE4-B73E9A805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318" y="1830928"/>
            <a:ext cx="2021058" cy="716032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F9351493-1F21-F721-1E94-8FE2BB2AC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9898" y="1497748"/>
            <a:ext cx="2851052" cy="1134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Architecture globale — 14 conteneurs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11</a:t>
            </a:r>
          </a:p>
        </p:txBody>
      </p:sp>
      <p:pic>
        <p:nvPicPr>
          <p:cNvPr id="63" name="Image 62">
            <a:extLst>
              <a:ext uri="{FF2B5EF4-FFF2-40B4-BE49-F238E27FC236}">
                <a16:creationId xmlns:a16="http://schemas.microsoft.com/office/drawing/2014/main" id="{6364E105-E7DB-3771-D92D-36123D7CD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4" y="1156182"/>
            <a:ext cx="11536385" cy="4925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19088"/>
          </a:xfrm>
          <a:prstGeom prst="rect">
            <a:avLst/>
          </a:prstGeom>
          <a:solidFill>
            <a:srgbClr val="EB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1B2B6B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Analyse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926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B2B6B"/>
                </a:solidFill>
              </a:rPr>
              <a:t>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3977639"/>
            <a:ext cx="1005840" cy="64008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71183" y="1463040"/>
            <a:ext cx="27432" cy="2926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B897414-2EB6-7DC4-DCEB-07AFB0ED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022" y="2016315"/>
            <a:ext cx="1724266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Identification des acteurs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61287"/>
            <a:ext cx="2613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1B2B6B"/>
                </a:solidFill>
              </a:rPr>
              <a:t>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93975"/>
            <a:ext cx="26135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B6B"/>
                </a:solidFill>
              </a:rPr>
              <a:t>Administrateur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262432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253288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Accès complet au dashboard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299008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289864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Gestion des utilisateurs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335584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326440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Vue carte géographique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372160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363016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Accès Kibana / 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0823" y="1161287"/>
            <a:ext cx="2613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1B2B6B"/>
                </a:solidFill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823" y="2093975"/>
            <a:ext cx="26135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B6B"/>
                </a:solidFill>
              </a:rPr>
              <a:t>Opérateur</a:t>
            </a:r>
          </a:p>
        </p:txBody>
      </p:sp>
      <p:sp>
        <p:nvSpPr>
          <p:cNvPr id="21" name="Oval 20"/>
          <p:cNvSpPr/>
          <p:nvPr/>
        </p:nvSpPr>
        <p:spPr>
          <a:xfrm>
            <a:off x="3500551" y="262432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28567" y="253288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Consultation des logs de sécurité</a:t>
            </a:r>
          </a:p>
        </p:txBody>
      </p:sp>
      <p:sp>
        <p:nvSpPr>
          <p:cNvPr id="23" name="Oval 22"/>
          <p:cNvSpPr/>
          <p:nvPr/>
        </p:nvSpPr>
        <p:spPr>
          <a:xfrm>
            <a:off x="3500551" y="299008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28567" y="289864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Vue carte géographique</a:t>
            </a:r>
          </a:p>
        </p:txBody>
      </p:sp>
      <p:sp>
        <p:nvSpPr>
          <p:cNvPr id="25" name="Oval 24"/>
          <p:cNvSpPr/>
          <p:nvPr/>
        </p:nvSpPr>
        <p:spPr>
          <a:xfrm>
            <a:off x="3500551" y="335584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28567" y="326440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Gestion des alertes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1161287"/>
            <a:ext cx="2613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1B2B6B"/>
                </a:solidFill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2093975"/>
            <a:ext cx="26135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B6B"/>
                </a:solidFill>
              </a:rPr>
              <a:t>Utilisateur</a:t>
            </a:r>
          </a:p>
        </p:txBody>
      </p:sp>
      <p:sp>
        <p:nvSpPr>
          <p:cNvPr id="29" name="Oval 28"/>
          <p:cNvSpPr/>
          <p:nvPr/>
        </p:nvSpPr>
        <p:spPr>
          <a:xfrm>
            <a:off x="6297015" y="262432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5031" y="253288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Accès basique au dashboard</a:t>
            </a:r>
          </a:p>
        </p:txBody>
      </p:sp>
      <p:sp>
        <p:nvSpPr>
          <p:cNvPr id="31" name="Oval 30"/>
          <p:cNvSpPr/>
          <p:nvPr/>
        </p:nvSpPr>
        <p:spPr>
          <a:xfrm>
            <a:off x="6297015" y="299008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5031" y="289864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Consultation des statistiques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3751" y="1161287"/>
            <a:ext cx="26135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C0392B"/>
                </a:solidFill>
              </a:rPr>
              <a:t>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3751" y="2093975"/>
            <a:ext cx="26135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</a:rPr>
              <a:t>Attaquant (externe)</a:t>
            </a:r>
          </a:p>
        </p:txBody>
      </p:sp>
      <p:sp>
        <p:nvSpPr>
          <p:cNvPr id="35" name="Oval 34"/>
          <p:cNvSpPr/>
          <p:nvPr/>
        </p:nvSpPr>
        <p:spPr>
          <a:xfrm>
            <a:off x="9093479" y="262432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21495" y="253288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Simulé par generate_attacks.py</a:t>
            </a:r>
          </a:p>
        </p:txBody>
      </p:sp>
      <p:sp>
        <p:nvSpPr>
          <p:cNvPr id="37" name="Oval 36"/>
          <p:cNvSpPr/>
          <p:nvPr/>
        </p:nvSpPr>
        <p:spPr>
          <a:xfrm>
            <a:off x="9093479" y="2990087"/>
            <a:ext cx="73152" cy="73152"/>
          </a:xfrm>
          <a:prstGeom prst="ellipse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21495" y="2898647"/>
            <a:ext cx="2339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9 scénarios d'attaque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Besoins fonctionnels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15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934FC99-E8B3-9CCD-B78B-2311B2E52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51" y="1457504"/>
            <a:ext cx="11174384" cy="26768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Besoins non-fonctionnels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16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8BDFCF7-AD51-3106-5C0C-7995B5B3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09" y="1343840"/>
            <a:ext cx="10793331" cy="23434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Résultats obtenus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72869" y="1481327"/>
            <a:ext cx="1188720" cy="1188720"/>
          </a:xfrm>
          <a:prstGeom prst="ellipse">
            <a:avLst/>
          </a:prstGeom>
          <a:solidFill>
            <a:srgbClr val="1B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2869" y="1481327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7"/>
            <a:ext cx="354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9 TYPES D'ATTAQUES
DÉTECTÉES EN TEMPS RÉEL</a:t>
            </a:r>
          </a:p>
        </p:txBody>
      </p:sp>
      <p:sp>
        <p:nvSpPr>
          <p:cNvPr id="12" name="Oval 11"/>
          <p:cNvSpPr/>
          <p:nvPr/>
        </p:nvSpPr>
        <p:spPr>
          <a:xfrm>
            <a:off x="5501487" y="1481327"/>
            <a:ext cx="1188720" cy="1188720"/>
          </a:xfrm>
          <a:prstGeom prst="ellipse">
            <a:avLst/>
          </a:prstGeom>
          <a:solidFill>
            <a:srgbClr val="1B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01487" y="1481327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2978" y="2898647"/>
            <a:ext cx="354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DASHBOARD COMPLET
SPA + GRAFANA + KIBANA + GÉO MAP</a:t>
            </a:r>
          </a:p>
        </p:txBody>
      </p:sp>
      <p:sp>
        <p:nvSpPr>
          <p:cNvPr id="15" name="Oval 14"/>
          <p:cNvSpPr/>
          <p:nvPr/>
        </p:nvSpPr>
        <p:spPr>
          <a:xfrm>
            <a:off x="9230105" y="1481327"/>
            <a:ext cx="1188720" cy="1188720"/>
          </a:xfrm>
          <a:prstGeom prst="ellipse">
            <a:avLst/>
          </a:prstGeom>
          <a:solidFill>
            <a:srgbClr val="1B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0105" y="1481327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1596" y="2898647"/>
            <a:ext cx="354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11 RÈGLES D'ALERTE
PROMETHEUS + REDIS PERSISTANT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17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3A0E069-E06E-1AC6-935A-1ADFA3802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10" y="1300025"/>
            <a:ext cx="10192043" cy="35364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Démonstration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PFA enrichissant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Conception et déploiement d'une plateforme SOC complète de A à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823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823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Compétences renforcées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0823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ELK Stack, Docker, Python/Flask, Prometheus/Grafana, sécurité réseau &amp;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Architecture solide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14 conteneurs microservices, TLS/HTTPS, JWT HS256, RBAC 3 rôles, Redis persistant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3751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3751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Livrable complet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Dashboard fonctionnel, 11 alertes automatiques, 9 scénarios d'attaque simulés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19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BFC994E9-D212-EBB4-B0B3-7F3964BA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54" y="1313548"/>
            <a:ext cx="11717385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Contexte Général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Objectifs du PFA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Architecture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1B2B6B"/>
                </a:solidFill>
              </a:rPr>
              <a:t>Analyse &amp;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365760"/>
          </a:xfrm>
          <a:prstGeom prst="rect">
            <a:avLst/>
          </a:prstGeom>
          <a:solidFill>
            <a:srgbClr val="2EA84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B6B"/>
                </a:solidFill>
              </a:rPr>
              <a:t>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905256"/>
            <a:ext cx="548640" cy="5029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Machine Learning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Détection d'anomalies par IA pour un scoring automatique des menaces en temps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823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823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Cloud Public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0823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Déploiement sur AWS/Azure avec haute disponibilité, auto-scaling et 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SIEM Externe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Connexion à Splunk ou QRadar pour corrélation d'événements multi-sources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3751" y="1298447"/>
            <a:ext cx="261358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B2B6B"/>
                </a:solidFill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3751" y="2304287"/>
            <a:ext cx="2613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A84F"/>
                </a:solidFill>
              </a:rPr>
              <a:t>Application Mobile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2688335"/>
            <a:ext cx="2613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</a:rPr>
              <a:t>App de monitoring avec notifications push pour les alertes 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4830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SecureWatch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8309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</a:rPr>
              <a:t>20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F5C24CB-9140-0976-93AE-8EA60FF00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391473"/>
            <a:ext cx="11936491" cy="22958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1117</Words>
  <Application>Microsoft Office PowerPoint</Application>
  <PresentationFormat>Grand écran</PresentationFormat>
  <Paragraphs>261</Paragraphs>
  <Slides>19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Hicham Agrad</cp:lastModifiedBy>
  <cp:revision>3</cp:revision>
  <dcterms:created xsi:type="dcterms:W3CDTF">2013-01-27T09:14:16Z</dcterms:created>
  <dcterms:modified xsi:type="dcterms:W3CDTF">2026-06-21T23:28:52Z</dcterms:modified>
  <cp:category/>
</cp:coreProperties>
</file>